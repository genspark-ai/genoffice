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D317B12-8A9D-4802-A9A0-574381B9EB5D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1F4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C6F1E05-C333-4282-903E-7E841179CF3E}"/>
              </a:ext>
            </a:extLst>
          </p:cNvPr>
          <p:cNvSpPr txBox="1"/>
          <p:nvPr/>
        </p:nvSpPr>
        <p:spPr>
          <a:xfrm>
            <a:off x="857250" y="2381250"/>
            <a:ext cx="10477500" cy="104775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项目启动会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DAA25F-E67F-457A-AF2D-30F86A191AE0}"/>
              </a:ext>
            </a:extLst>
          </p:cNvPr>
          <p:cNvSpPr txBox="1"/>
          <p:nvPr/>
        </p:nvSpPr>
        <p:spPr>
          <a:xfrm>
            <a:off x="857250" y="3619500"/>
            <a:ext cx="10477500" cy="47625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2400">
                <a:solidFill>
                  <a:srgbClr val="9FB3C8"/>
                </a:solidFill>
              </a:rPr>
              <a:t>〔填写项目名称〕 Kick-off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957105-DAE5-43C5-8620-A5176ECCA7A3}"/>
              </a:ext>
            </a:extLst>
          </p:cNvPr>
          <p:cNvSpPr txBox="1"/>
          <p:nvPr/>
        </p:nvSpPr>
        <p:spPr>
          <a:xfrm>
            <a:off x="857250" y="5334000"/>
            <a:ext cx="10477500" cy="381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600">
                <a:solidFill>
                  <a:srgbClr val="C8D4E0"/>
                </a:solidFill>
              </a:rPr>
              <a:t>汇报人：〔填写姓名〕　·　〔填写日期〕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C7C9321-1F13-43CF-9052-1ECFA8314AE0}"/>
              </a:ext>
            </a:extLst>
          </p:cNvPr>
          <p:cNvSpPr txBox="1"/>
          <p:nvPr/>
        </p:nvSpPr>
        <p:spPr>
          <a:xfrm>
            <a:off x="762000" y="571500"/>
            <a:ext cx="8572500" cy="762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0E1A2B"/>
                </a:solidFill>
              </a:rPr>
              <a:t>会议议程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6A06C3E-78E0-4F6A-B259-FD611E52CBD4}"/>
              </a:ext>
            </a:extLst>
          </p:cNvPr>
          <p:cNvSpPr/>
          <p:nvPr/>
        </p:nvSpPr>
        <p:spPr>
          <a:xfrm>
            <a:off x="762000" y="1905000"/>
            <a:ext cx="2524125" cy="314325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9CCE0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4000" b="1">
                <a:solidFill>
                  <a:srgbClr val="1F4E79"/>
                </a:solidFill>
              </a:rPr>
              <a:t>01</a:t>
            </a:r>
          </a:p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0E1A2B"/>
                </a:solidFill>
              </a:rPr>
              <a:t>项目背景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A6B7D"/>
                </a:solidFill>
              </a:rPr>
              <a:t>为什么做这件事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C1D21AE-EEF9-42F7-ACF2-2C7F7ABDFE6E}"/>
              </a:ext>
            </a:extLst>
          </p:cNvPr>
          <p:cNvSpPr/>
          <p:nvPr/>
        </p:nvSpPr>
        <p:spPr>
          <a:xfrm>
            <a:off x="3476625" y="1905000"/>
            <a:ext cx="2524125" cy="314325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9CCE0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4000" b="1">
                <a:solidFill>
                  <a:srgbClr val="1F4E79"/>
                </a:solidFill>
              </a:rPr>
              <a:t>02</a:t>
            </a:r>
          </a:p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0E1A2B"/>
                </a:solidFill>
              </a:rPr>
              <a:t>目标与范围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A6B7D"/>
                </a:solidFill>
              </a:rPr>
              <a:t>要达成什么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744954B-982C-471F-B828-6EE55E25C241}"/>
              </a:ext>
            </a:extLst>
          </p:cNvPr>
          <p:cNvSpPr/>
          <p:nvPr/>
        </p:nvSpPr>
        <p:spPr>
          <a:xfrm>
            <a:off x="6191250" y="1905000"/>
            <a:ext cx="2524125" cy="314325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9CCE0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4000" b="1">
                <a:solidFill>
                  <a:srgbClr val="1F4E79"/>
                </a:solidFill>
              </a:rPr>
              <a:t>03</a:t>
            </a:r>
          </a:p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0E1A2B"/>
                </a:solidFill>
              </a:rPr>
              <a:t>计划与分工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A6B7D"/>
                </a:solidFill>
              </a:rPr>
              <a:t>谁在什么时候交付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1C8468E-E7D8-4AB0-8993-C9C8220E6619}"/>
              </a:ext>
            </a:extLst>
          </p:cNvPr>
          <p:cNvSpPr/>
          <p:nvPr/>
        </p:nvSpPr>
        <p:spPr>
          <a:xfrm>
            <a:off x="8905875" y="1905000"/>
            <a:ext cx="2524125" cy="314325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9CCE0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4000" b="1">
                <a:solidFill>
                  <a:srgbClr val="1F4E79"/>
                </a:solidFill>
              </a:rPr>
              <a:t>04</a:t>
            </a:r>
          </a:p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0E1A2B"/>
                </a:solidFill>
              </a:rPr>
              <a:t>风险与求助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A6B7D"/>
                </a:solidFill>
              </a:rPr>
              <a:t>需要谁的支持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3263E01-B22A-4C7C-B59A-99226E4DBCF2}"/>
              </a:ext>
            </a:extLst>
          </p:cNvPr>
          <p:cNvSpPr txBox="1"/>
          <p:nvPr/>
        </p:nvSpPr>
        <p:spPr>
          <a:xfrm>
            <a:off x="762000" y="571500"/>
            <a:ext cx="8572500" cy="762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0E1A2B"/>
                </a:solidFill>
              </a:rPr>
              <a:t>项目背景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59BA619-D03B-4A8A-96F7-09485C489290}"/>
              </a:ext>
            </a:extLst>
          </p:cNvPr>
          <p:cNvSpPr txBox="1"/>
          <p:nvPr/>
        </p:nvSpPr>
        <p:spPr>
          <a:xfrm>
            <a:off x="762000" y="1619250"/>
            <a:ext cx="10668000" cy="1143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800">
                <a:solidFill>
                  <a:srgbClr val="3B4A5A"/>
                </a:solidFill>
              </a:rPr>
              <a:t>〔填写两到三句话：当前业务痛点、为什么现在启动、不做的代价〕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C10A283-E406-410C-BD52-85251321D018}"/>
              </a:ext>
            </a:extLst>
          </p:cNvPr>
          <p:cNvSpPr/>
          <p:nvPr/>
        </p:nvSpPr>
        <p:spPr>
          <a:xfrm>
            <a:off x="762000" y="3238500"/>
            <a:ext cx="3333750" cy="2286000"/>
          </a:xfrm>
          <a:prstGeom prst="roundRect">
            <a:avLst/>
          </a:prstGeom>
          <a:solidFill>
            <a:srgbClr val="EAF1F8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现状</a:t>
            </a:r>
          </a:p>
          <a:p>
            <a:pPr algn="ctr">
              <a:spcBef>
                <a:spcPts val="1200"/>
              </a:spcBef>
            </a:pPr>
            <a:r>
              <a:rPr sz="1500">
                <a:solidFill>
                  <a:srgbClr val="3B4A5A"/>
                </a:solidFill>
              </a:rPr>
              <a:t>〔填写关键现状数据〕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3251D7C-4C70-4638-B9BF-5F6555D81491}"/>
              </a:ext>
            </a:extLst>
          </p:cNvPr>
          <p:cNvSpPr/>
          <p:nvPr/>
        </p:nvSpPr>
        <p:spPr>
          <a:xfrm>
            <a:off x="4429125" y="3238500"/>
            <a:ext cx="3333750" cy="2286000"/>
          </a:xfrm>
          <a:prstGeom prst="roundRect">
            <a:avLst/>
          </a:prstGeom>
          <a:solidFill>
            <a:srgbClr val="EAF1F8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问题</a:t>
            </a:r>
          </a:p>
          <a:p>
            <a:pPr algn="ctr">
              <a:spcBef>
                <a:spcPts val="1200"/>
              </a:spcBef>
            </a:pPr>
            <a:r>
              <a:rPr sz="1500">
                <a:solidFill>
                  <a:srgbClr val="3B4A5A"/>
                </a:solidFill>
              </a:rPr>
              <a:t>〔填写核心问题〕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96FFF44-2647-43B9-8111-40F3E3B2B6F3}"/>
              </a:ext>
            </a:extLst>
          </p:cNvPr>
          <p:cNvSpPr/>
          <p:nvPr/>
        </p:nvSpPr>
        <p:spPr>
          <a:xfrm>
            <a:off x="8096250" y="3238500"/>
            <a:ext cx="3333750" cy="2286000"/>
          </a:xfrm>
          <a:prstGeom prst="roundRect">
            <a:avLst/>
          </a:prstGeom>
          <a:solidFill>
            <a:srgbClr val="EAF1F8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机会</a:t>
            </a:r>
          </a:p>
          <a:p>
            <a:pPr algn="ctr">
              <a:spcBef>
                <a:spcPts val="1200"/>
              </a:spcBef>
            </a:pPr>
            <a:r>
              <a:rPr sz="1500">
                <a:solidFill>
                  <a:srgbClr val="3B4A5A"/>
                </a:solidFill>
              </a:rPr>
              <a:t>〔填写市场或内部机会〕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E7AC53E-989C-4C26-A468-03BEC5060D83}"/>
              </a:ext>
            </a:extLst>
          </p:cNvPr>
          <p:cNvSpPr txBox="1"/>
          <p:nvPr/>
        </p:nvSpPr>
        <p:spPr>
          <a:xfrm>
            <a:off x="762000" y="571500"/>
            <a:ext cx="8572500" cy="762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0E1A2B"/>
                </a:solidFill>
              </a:rPr>
              <a:t>目标与关键结果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B3D8971-17F9-48D9-8792-A695E335BD30}"/>
              </a:ext>
            </a:extLst>
          </p:cNvPr>
          <p:cNvSpPr txBox="1"/>
          <p:nvPr/>
        </p:nvSpPr>
        <p:spPr>
          <a:xfrm>
            <a:off x="762000" y="1524000"/>
            <a:ext cx="10668000" cy="5715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r>
              <a:rPr sz="2000">
                <a:solidFill>
                  <a:srgbClr val="1F4E79"/>
                </a:solidFill>
              </a:rPr>
              <a:t>项目目标：〔填写一句话目标〕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61D5731-49C5-40B0-A5EA-44568DE139EC}"/>
              </a:ext>
            </a:extLst>
          </p:cNvPr>
          <p:cNvSpPr/>
          <p:nvPr/>
        </p:nvSpPr>
        <p:spPr>
          <a:xfrm>
            <a:off x="762000" y="2667000"/>
            <a:ext cx="3333750" cy="2476500"/>
          </a:xfrm>
          <a:prstGeom prst="roundRect">
            <a:avLst/>
          </a:prstGeom>
          <a:solidFill>
            <a:srgbClr val="0E1A2B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8FB4DA"/>
                </a:solidFill>
              </a:rPr>
              <a:t>KR1</a:t>
            </a:r>
          </a:p>
          <a:p>
            <a:pPr algn="ctr">
              <a:spcBef>
                <a:spcPts val="1000"/>
              </a:spcBef>
            </a:pPr>
            <a:r>
              <a:rPr sz="3400" b="1">
                <a:solidFill>
                  <a:srgbClr val="FFFFFF"/>
                </a:solidFill>
              </a:rPr>
              <a:t>〔填写指标〕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C8D4E0"/>
                </a:solidFill>
              </a:rPr>
              <a:t>〔填写衡量方式〕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F8100D9-270B-43C7-A1BF-6AB8A3F8F16D}"/>
              </a:ext>
            </a:extLst>
          </p:cNvPr>
          <p:cNvSpPr/>
          <p:nvPr/>
        </p:nvSpPr>
        <p:spPr>
          <a:xfrm>
            <a:off x="4429125" y="2667000"/>
            <a:ext cx="3333750" cy="2476500"/>
          </a:xfrm>
          <a:prstGeom prst="roundRect">
            <a:avLst/>
          </a:prstGeom>
          <a:solidFill>
            <a:srgbClr val="0E1A2B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8FB4DA"/>
                </a:solidFill>
              </a:rPr>
              <a:t>KR2</a:t>
            </a:r>
          </a:p>
          <a:p>
            <a:pPr algn="ctr">
              <a:spcBef>
                <a:spcPts val="1000"/>
              </a:spcBef>
            </a:pPr>
            <a:r>
              <a:rPr sz="3400" b="1">
                <a:solidFill>
                  <a:srgbClr val="FFFFFF"/>
                </a:solidFill>
              </a:rPr>
              <a:t>〔填写指标〕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C8D4E0"/>
                </a:solidFill>
              </a:rPr>
              <a:t>〔填写衡量方式〕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123C35C-DE19-468A-84A3-2410E8EDEF2E}"/>
              </a:ext>
            </a:extLst>
          </p:cNvPr>
          <p:cNvSpPr/>
          <p:nvPr/>
        </p:nvSpPr>
        <p:spPr>
          <a:xfrm>
            <a:off x="8096250" y="2667000"/>
            <a:ext cx="3333750" cy="2476500"/>
          </a:xfrm>
          <a:prstGeom prst="roundRect">
            <a:avLst/>
          </a:prstGeom>
          <a:solidFill>
            <a:srgbClr val="0E1A2B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8FB4DA"/>
                </a:solidFill>
              </a:rPr>
              <a:t>KR3</a:t>
            </a:r>
          </a:p>
          <a:p>
            <a:pPr algn="ctr">
              <a:spcBef>
                <a:spcPts val="1000"/>
              </a:spcBef>
            </a:pPr>
            <a:r>
              <a:rPr sz="3400" b="1">
                <a:solidFill>
                  <a:srgbClr val="FFFFFF"/>
                </a:solidFill>
              </a:rPr>
              <a:t>〔填写指标〕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C8D4E0"/>
                </a:solidFill>
              </a:rPr>
              <a:t>〔填写衡量方式〕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2687CD2-46BB-4991-9B70-966050A8B343}"/>
              </a:ext>
            </a:extLst>
          </p:cNvPr>
          <p:cNvSpPr txBox="1"/>
          <p:nvPr/>
        </p:nvSpPr>
        <p:spPr>
          <a:xfrm>
            <a:off x="762000" y="571500"/>
            <a:ext cx="8572500" cy="762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0E1A2B"/>
                </a:solidFill>
              </a:rPr>
              <a:t>时间计划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5996FB1-8B44-42E7-A23D-1CE806BF727F}"/>
              </a:ext>
            </a:extLst>
          </p:cNvPr>
          <p:cNvSpPr/>
          <p:nvPr/>
        </p:nvSpPr>
        <p:spPr>
          <a:xfrm>
            <a:off x="762000" y="2286000"/>
            <a:ext cx="2571750" cy="1047750"/>
          </a:xfrm>
          <a:prstGeom prst="chevron">
            <a:avLst/>
          </a:prstGeom>
          <a:solidFill>
            <a:srgbClr val="1F4E79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需求确认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6DA87DA-3397-4937-B7F6-67A7FFA0628B}"/>
              </a:ext>
            </a:extLst>
          </p:cNvPr>
          <p:cNvSpPr/>
          <p:nvPr/>
        </p:nvSpPr>
        <p:spPr>
          <a:xfrm>
            <a:off x="3476625" y="2286000"/>
            <a:ext cx="2571750" cy="1047750"/>
          </a:xfrm>
          <a:prstGeom prst="chevron">
            <a:avLst/>
          </a:prstGeom>
          <a:solidFill>
            <a:srgbClr val="2E6DA4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方案设计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FB53694-E010-4331-B83A-00DB48D404A1}"/>
              </a:ext>
            </a:extLst>
          </p:cNvPr>
          <p:cNvSpPr/>
          <p:nvPr/>
        </p:nvSpPr>
        <p:spPr>
          <a:xfrm>
            <a:off x="6191250" y="2286000"/>
            <a:ext cx="2571750" cy="1047750"/>
          </a:xfrm>
          <a:prstGeom prst="chevron">
            <a:avLst/>
          </a:prstGeom>
          <a:solidFill>
            <a:srgbClr val="3E7CB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开发联调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6FF20CA-E0C6-4070-9E58-8196534D9F8D}"/>
              </a:ext>
            </a:extLst>
          </p:cNvPr>
          <p:cNvSpPr/>
          <p:nvPr/>
        </p:nvSpPr>
        <p:spPr>
          <a:xfrm>
            <a:off x="8905875" y="2286000"/>
            <a:ext cx="2571750" cy="1047750"/>
          </a:xfrm>
          <a:prstGeom prst="chevron">
            <a:avLst/>
          </a:prstGeom>
          <a:solidFill>
            <a:srgbClr val="4A90C4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上线验收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094624A-4ACA-4519-8398-5EDA3E9493AE}"/>
              </a:ext>
            </a:extLst>
          </p:cNvPr>
          <p:cNvSpPr txBox="1"/>
          <p:nvPr/>
        </p:nvSpPr>
        <p:spPr>
          <a:xfrm>
            <a:off x="762000" y="3619500"/>
            <a:ext cx="2571750" cy="85725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5A6B7D"/>
                </a:solidFill>
              </a:rPr>
              <a:t>〔填写日期区间〕</a:t>
            </a:r>
          </a:p>
          <a:p>
            <a:pPr algn="ctr"/>
            <a:r>
              <a:rPr sz="1400">
                <a:solidFill>
                  <a:srgbClr val="3B4A5A"/>
                </a:solidFill>
              </a:rPr>
              <a:t>〔填写交付物〕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8374B40-2D2A-414D-A302-E85416C8BB4B}"/>
              </a:ext>
            </a:extLst>
          </p:cNvPr>
          <p:cNvSpPr txBox="1"/>
          <p:nvPr/>
        </p:nvSpPr>
        <p:spPr>
          <a:xfrm>
            <a:off x="3476625" y="3619500"/>
            <a:ext cx="2571750" cy="85725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5A6B7D"/>
                </a:solidFill>
              </a:rPr>
              <a:t>〔填写日期区间〕</a:t>
            </a:r>
          </a:p>
          <a:p>
            <a:pPr algn="ctr"/>
            <a:r>
              <a:rPr sz="1400">
                <a:solidFill>
                  <a:srgbClr val="3B4A5A"/>
                </a:solidFill>
              </a:rPr>
              <a:t>〔填写交付物〕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7B66D8-4112-4F4F-A548-CE69A8A8A167}"/>
              </a:ext>
            </a:extLst>
          </p:cNvPr>
          <p:cNvSpPr txBox="1"/>
          <p:nvPr/>
        </p:nvSpPr>
        <p:spPr>
          <a:xfrm>
            <a:off x="6191250" y="3619500"/>
            <a:ext cx="2571750" cy="85725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5A6B7D"/>
                </a:solidFill>
              </a:rPr>
              <a:t>〔填写日期区间〕</a:t>
            </a:r>
          </a:p>
          <a:p>
            <a:pPr algn="ctr"/>
            <a:r>
              <a:rPr sz="1400">
                <a:solidFill>
                  <a:srgbClr val="3B4A5A"/>
                </a:solidFill>
              </a:rPr>
              <a:t>〔填写交付物〕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3713DBA-41A6-4EEE-9EC9-1AA7EE1E8A0B}"/>
              </a:ext>
            </a:extLst>
          </p:cNvPr>
          <p:cNvSpPr txBox="1"/>
          <p:nvPr/>
        </p:nvSpPr>
        <p:spPr>
          <a:xfrm>
            <a:off x="8905875" y="3619500"/>
            <a:ext cx="2571750" cy="85725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5A6B7D"/>
                </a:solidFill>
              </a:rPr>
              <a:t>〔填写日期区间〕</a:t>
            </a:r>
          </a:p>
          <a:p>
            <a:pPr algn="ctr"/>
            <a:r>
              <a:rPr sz="1400">
                <a:solidFill>
                  <a:srgbClr val="3B4A5A"/>
                </a:solidFill>
              </a:rPr>
              <a:t>〔填写交付物〕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A152CCE-B9C1-4ADA-A7D1-BB61DA87705E}"/>
              </a:ext>
            </a:extLst>
          </p:cNvPr>
          <p:cNvSpPr/>
          <p:nvPr/>
        </p:nvSpPr>
        <p:spPr>
          <a:xfrm>
            <a:off x="762000" y="4953000"/>
            <a:ext cx="10668000" cy="104775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9CCE0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>
                <a:solidFill>
                  <a:srgbClr val="3B4A5A"/>
                </a:solidFill>
              </a:rPr>
              <a:t>里程碑：〔填写关键节点与验收标准〕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493CEB0-AABD-430F-8C5F-A8B99A94CB81}"/>
              </a:ext>
            </a:extLst>
          </p:cNvPr>
          <p:cNvSpPr txBox="1"/>
          <p:nvPr/>
        </p:nvSpPr>
        <p:spPr>
          <a:xfrm>
            <a:off x="762000" y="571500"/>
            <a:ext cx="8572500" cy="762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0E1A2B"/>
                </a:solidFill>
              </a:rPr>
              <a:t>团队分工与风险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6273124-D322-4978-819A-792DFDF28477}"/>
              </a:ext>
            </a:extLst>
          </p:cNvPr>
          <p:cNvSpPr/>
          <p:nvPr/>
        </p:nvSpPr>
        <p:spPr>
          <a:xfrm>
            <a:off x="762000" y="1714500"/>
            <a:ext cx="5191125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CE0"/>
            </a:solidFill>
          </a:ln>
        </p:spPr>
        <p:txBody>
          <a:bodyPr wrap="square" rtlCol="0" lIns="0" tIns="0" rIns="0" bIns="0" anchor="ctr"/>
          <a:lstStyle/>
          <a:p>
            <a:r>
              <a:rPr sz="2000" b="1">
                <a:solidFill>
                  <a:srgbClr val="1F4E79"/>
                </a:solidFill>
              </a:rPr>
              <a:t>团队分工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B4A5A"/>
                </a:solidFill>
              </a:rPr>
              <a:t>产品：〔填写职责与负责人〕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研发：〔填写职责与负责人〕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设计：〔填写职责与负责人〕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测试：〔填写职责与负责人〕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协作方：〔填写外部依赖〕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48EB7DD-14B1-419D-9506-267B835D6D6F}"/>
              </a:ext>
            </a:extLst>
          </p:cNvPr>
          <p:cNvSpPr/>
          <p:nvPr/>
        </p:nvSpPr>
        <p:spPr>
          <a:xfrm>
            <a:off x="6238875" y="1714500"/>
            <a:ext cx="5191125" cy="4000500"/>
          </a:xfrm>
          <a:prstGeom prst="roundRect">
            <a:avLst/>
          </a:prstGeom>
          <a:solidFill>
            <a:srgbClr val="FFF6F2"/>
          </a:solidFill>
          <a:ln w="12700">
            <a:solidFill>
              <a:srgbClr val="E0B9A8"/>
            </a:solidFill>
          </a:ln>
        </p:spPr>
        <p:txBody>
          <a:bodyPr wrap="square" rtlCol="0" lIns="0" tIns="0" rIns="0" bIns="0" anchor="ctr"/>
          <a:lstStyle/>
          <a:p>
            <a:r>
              <a:rPr sz="2000" b="1">
                <a:solidFill>
                  <a:srgbClr val="B4552D"/>
                </a:solidFill>
              </a:rPr>
              <a:t>主要风险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B4A5A"/>
                </a:solidFill>
              </a:rPr>
              <a:t>风险一：〔填写风险与应对〕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风险二：〔填写风险与应对〕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风险三：〔填写风险与应对〕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B4A5A"/>
                </a:solidFill>
              </a:rPr>
              <a:t>需要的支持：〔填写要协调的资源〕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A106BD-EED2-4725-AA65-F8BA17ED474E}"/>
              </a:ext>
            </a:extLst>
          </p:cNvPr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400">
                <a:solidFill>
                  <a:srgbClr val="5A6B7D"/>
                </a:solidFill>
              </a:rPr>
              <a:t>谢谢 · 欢迎讨论　　联系人：〔填写姓名与联系方式〕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